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100000">
              <a:srgbClr val="1E3A8A"/>
            </a:gs>
          </a:gsLst>
          <a:lin scaled="0" ang="189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600" b="1">
                <a:solidFill>
                  <a:srgbClr val="FFFFFF"/>
                </a:solidFill>
              </a:defRPr>
            </a:pPr>
            <a:r>
              <a:t>Toonify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3B82F6"/>
                </a:solidFill>
              </a:defRPr>
            </a:pPr>
            <a:r>
              <a:t>Transforming Reality into Art with AI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0" y="5029200"/>
            <a:ext cx="2743200" cy="0"/>
          </a:xfrm>
          <a:prstGeom prst="rect">
            <a:avLst/>
          </a:prstGeom>
          <a:ln w="381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100000">
              <a:srgbClr val="193777"/>
            </a:gs>
          </a:gsLst>
          <a:lin scaled="0" ang="189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000" b="1">
                <a:solidFill>
                  <a:srgbClr val="3B82F6"/>
                </a:solidFill>
              </a:defRPr>
            </a:pPr>
            <a: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FFFFFF"/>
                </a:solidFill>
              </a:defRPr>
            </a:pPr>
            <a:r>
              <a:t>❌ Complex tools like Photoshop—steep learning curve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468880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FFFFFF"/>
                </a:solidFill>
              </a:defRPr>
            </a:pPr>
            <a:r>
              <a:t>❌ Expensive subscriptions ($50-500/month)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91840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FFFFFF"/>
                </a:solidFill>
              </a:defRPr>
            </a:pPr>
            <a:r>
              <a:t>❌ Time-consuming editing process (hours)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114800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FFFFFF"/>
                </a:solidFill>
              </a:defRPr>
            </a:pPr>
            <a:r>
              <a:t>❌ Desktop-only, limited accessibility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100000">
              <a:srgbClr val="1E3A8A"/>
            </a:gs>
          </a:gsLst>
          <a:lin scaled="0" ang="189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000" b="1">
                <a:solidFill>
                  <a:srgbClr val="9333EA"/>
                </a:solidFill>
              </a:defRPr>
            </a:pPr>
            <a:r>
              <a:t>The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FBBF24"/>
                </a:solidFill>
              </a:defRPr>
            </a:pPr>
            <a:r>
              <a:t>Web-based AI Image Stylization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92024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>
                <a:solidFill>
                  <a:srgbClr val="E5E7EB"/>
                </a:solidFill>
              </a:defRPr>
            </a:pPr>
            <a:r>
              <a:t>Upload → Select Style → Generate → Download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3B82F6"/>
                </a:solidFill>
              </a:defRPr>
            </a:pPr>
            <a:r>
              <a:t>Key Features: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29184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t>✨ 9+ AI Styles (Pixar, Anime, Sketch, Oil Paint, etc.)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93192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t>⚡ Ultra-fast processing (3-4 seconds per image)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57200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t>🎨 High-quality 4K outputs with facial preservation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100000">
              <a:srgbClr val="1E3A8A"/>
            </a:gs>
          </a:gsLst>
          <a:lin scaled="0" ang="189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000" b="1">
                <a:solidFill>
                  <a:srgbClr val="3B82F6"/>
                </a:solidFill>
              </a:defRPr>
            </a:pPr>
            <a:r>
              <a:t>How It Works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645920"/>
            <a:ext cx="1645920" cy="2286000"/>
          </a:xfrm>
          <a:prstGeom prst="rect">
            <a:avLst/>
          </a:prstGeom>
          <a:solidFill>
            <a:srgbClr val="374151"/>
          </a:solidFill>
          <a:ln w="25400">
            <a:solidFill>
              <a:srgbClr val="933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645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/>
            </a:pPr>
            <a:r>
              <a:t>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1645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Upload</a:t>
            </a:r>
            <a:br/>
            <a:r>
              <a:t>Image</a:t>
            </a:r>
          </a:p>
        </p:txBody>
      </p:sp>
      <p:sp>
        <p:nvSpPr>
          <p:cNvPr id="6" name="Rectangle 5"/>
          <p:cNvSpPr/>
          <p:nvPr/>
        </p:nvSpPr>
        <p:spPr>
          <a:xfrm>
            <a:off x="2606039" y="3017520"/>
            <a:ext cx="137160" cy="0"/>
          </a:xfrm>
          <a:prstGeom prst="rect">
            <a:avLst/>
          </a:prstGeom>
          <a:ln w="254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834640" y="1645920"/>
            <a:ext cx="1645920" cy="2286000"/>
          </a:xfrm>
          <a:prstGeom prst="rect">
            <a:avLst/>
          </a:prstGeom>
          <a:solidFill>
            <a:srgbClr val="374151"/>
          </a:solidFill>
          <a:ln w="25400">
            <a:solidFill>
              <a:srgbClr val="933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834640" y="2011680"/>
            <a:ext cx="1645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/>
            </a:pPr>
            <a:r>
              <a:t>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34640" y="2926080"/>
            <a:ext cx="1645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Select</a:t>
            </a:r>
            <a:br/>
            <a:r>
              <a:t>AI Style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26280" y="3017520"/>
            <a:ext cx="137160" cy="0"/>
          </a:xfrm>
          <a:prstGeom prst="rect">
            <a:avLst/>
          </a:prstGeom>
          <a:ln w="254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754880" y="1645920"/>
            <a:ext cx="1645920" cy="2286000"/>
          </a:xfrm>
          <a:prstGeom prst="rect">
            <a:avLst/>
          </a:prstGeom>
          <a:solidFill>
            <a:srgbClr val="374151"/>
          </a:solidFill>
          <a:ln w="25400">
            <a:solidFill>
              <a:srgbClr val="933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0" y="2011680"/>
            <a:ext cx="1645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/>
            </a:pPr>
            <a:r>
              <a:t>⚙️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2926080"/>
            <a:ext cx="1645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Process</a:t>
            </a:r>
            <a:br/>
            <a:r>
              <a:t>with AI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46520" y="3017520"/>
            <a:ext cx="137160" cy="0"/>
          </a:xfrm>
          <a:prstGeom prst="rect">
            <a:avLst/>
          </a:prstGeom>
          <a:ln w="254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675120" y="1645920"/>
            <a:ext cx="1645920" cy="2286000"/>
          </a:xfrm>
          <a:prstGeom prst="rect">
            <a:avLst/>
          </a:prstGeom>
          <a:solidFill>
            <a:srgbClr val="374151"/>
          </a:solidFill>
          <a:ln w="25400">
            <a:solidFill>
              <a:srgbClr val="933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75120" y="2011680"/>
            <a:ext cx="1645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/>
            </a:pPr>
            <a:r>
              <a:t>⬇️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2926080"/>
            <a:ext cx="1645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Download</a:t>
            </a:r>
            <a:br/>
            <a:r>
              <a:t>4K Output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100000">
              <a:srgbClr val="1E3A8A"/>
            </a:gs>
          </a:gsLst>
          <a:lin scaled="0" ang="189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000" b="1">
                <a:solidFill>
                  <a:srgbClr val="FBBF24"/>
                </a:solidFill>
              </a:defRPr>
            </a:pPr>
            <a:r>
              <a:t>Stunning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E5E7EB"/>
                </a:solidFill>
              </a:defRPr>
            </a:pPr>
            <a:r>
              <a:t>Before &amp; After Transformations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1828800"/>
            <a:ext cx="2286000" cy="2926080"/>
          </a:xfrm>
          <a:prstGeom prst="rect">
            <a:avLst/>
          </a:prstGeom>
          <a:solidFill>
            <a:srgbClr val="4B5563"/>
          </a:solidFill>
          <a:ln w="381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55448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9333EA"/>
                </a:solidFill>
              </a:defRPr>
            </a:pPr>
            <a:r>
              <a:t>Original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200400"/>
            <a:ext cx="1737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E5E7EB"/>
                </a:solidFill>
              </a:defRPr>
            </a:pPr>
            <a:r>
              <a:t>[Image Placeholder]</a:t>
            </a:r>
          </a:p>
        </p:txBody>
      </p:sp>
      <p:sp>
        <p:nvSpPr>
          <p:cNvPr id="7" name="Rectangle 6"/>
          <p:cNvSpPr/>
          <p:nvPr/>
        </p:nvSpPr>
        <p:spPr>
          <a:xfrm>
            <a:off x="3474720" y="1828800"/>
            <a:ext cx="2286000" cy="2926080"/>
          </a:xfrm>
          <a:prstGeom prst="rect">
            <a:avLst/>
          </a:prstGeom>
          <a:solidFill>
            <a:srgbClr val="4B5563"/>
          </a:solidFill>
          <a:ln w="381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0" y="155448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9333EA"/>
                </a:solidFill>
              </a:defRPr>
            </a:pPr>
            <a:r>
              <a:t>Pixar 3D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49039" y="3200400"/>
            <a:ext cx="1737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E5E7EB"/>
                </a:solidFill>
              </a:defRPr>
            </a:pPr>
            <a:r>
              <a:t>[Image Placeholder]</a:t>
            </a:r>
          </a:p>
        </p:txBody>
      </p:sp>
      <p:sp>
        <p:nvSpPr>
          <p:cNvPr id="10" name="Rectangle 9"/>
          <p:cNvSpPr/>
          <p:nvPr/>
        </p:nvSpPr>
        <p:spPr>
          <a:xfrm>
            <a:off x="5852160" y="1828800"/>
            <a:ext cx="2286000" cy="2926080"/>
          </a:xfrm>
          <a:prstGeom prst="rect">
            <a:avLst/>
          </a:prstGeom>
          <a:solidFill>
            <a:srgbClr val="4B5563"/>
          </a:solidFill>
          <a:ln w="381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852160" y="155448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9333EA"/>
                </a:solidFill>
              </a:defRPr>
            </a:pPr>
            <a:r>
              <a:t>Anime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0" y="3200400"/>
            <a:ext cx="1737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E5E7EB"/>
                </a:solidFill>
              </a:defRPr>
            </a:pPr>
            <a:r>
              <a:t>[Image Placeholder]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0292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BBF24"/>
                </a:solidFill>
              </a:defRPr>
            </a:pPr>
            <a:r>
              <a:t>✓ 95% Facial Feature Preservation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4864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BBF24"/>
                </a:solidFill>
              </a:defRPr>
            </a:pPr>
            <a:r>
              <a:t>✓ Processing Speed: 3.2 seconds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9436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BBF24"/>
                </a:solidFill>
              </a:defRPr>
            </a:pPr>
            <a:r>
              <a:t>✓ 4K Professional Quality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100000">
              <a:srgbClr val="1E3A8A"/>
            </a:gs>
          </a:gsLst>
          <a:lin scaled="0" ang="189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600" b="1">
                <a:solidFill>
                  <a:srgbClr val="3B82F6"/>
                </a:solidFill>
              </a:defRPr>
            </a:pPr>
            <a:r>
              <a:t>Technology Stack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2286000" cy="1783080"/>
          </a:xfrm>
          <a:prstGeom prst="rect">
            <a:avLst/>
          </a:prstGeom>
          <a:solidFill>
            <a:srgbClr val="374151"/>
          </a:solidFill>
          <a:ln w="25400">
            <a:solidFill>
              <a:srgbClr val="933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234439"/>
            <a:ext cx="2011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B82F6"/>
                </a:solidFill>
              </a:defRPr>
            </a:pPr>
            <a:r>
              <a:t>🖥️ Frontend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73736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E5E7EB"/>
                </a:solidFill>
              </a:defRPr>
            </a:pPr>
            <a:r>
              <a:t>HTML5 • CSS3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10312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E5E7EB"/>
                </a:solidFill>
              </a:defRPr>
            </a:pPr>
            <a:r>
              <a:t>JavaScript • Canvas API</a:t>
            </a:r>
          </a:p>
        </p:txBody>
      </p:sp>
      <p:sp>
        <p:nvSpPr>
          <p:cNvPr id="7" name="Rectangle 6"/>
          <p:cNvSpPr/>
          <p:nvPr/>
        </p:nvSpPr>
        <p:spPr>
          <a:xfrm>
            <a:off x="3017520" y="1097280"/>
            <a:ext cx="2286000" cy="1783080"/>
          </a:xfrm>
          <a:prstGeom prst="rect">
            <a:avLst/>
          </a:prstGeom>
          <a:solidFill>
            <a:srgbClr val="374151"/>
          </a:solidFill>
          <a:ln w="25400">
            <a:solidFill>
              <a:srgbClr val="933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154679" y="1234439"/>
            <a:ext cx="2011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B82F6"/>
                </a:solidFill>
              </a:defRPr>
            </a:pPr>
            <a:r>
              <a:t>⚙️ Backend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54679" y="173736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E5E7EB"/>
                </a:solidFill>
              </a:defRPr>
            </a:pPr>
            <a:r>
              <a:t>Python 3.9+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54679" y="210312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E5E7EB"/>
                </a:solidFill>
              </a:defRPr>
            </a:pPr>
            <a:r>
              <a:t>Flask • Gunicorn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577840" y="1097280"/>
            <a:ext cx="2286000" cy="1783080"/>
          </a:xfrm>
          <a:prstGeom prst="rect">
            <a:avLst/>
          </a:prstGeom>
          <a:solidFill>
            <a:srgbClr val="374151"/>
          </a:solidFill>
          <a:ln w="25400">
            <a:solidFill>
              <a:srgbClr val="933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715000" y="1234439"/>
            <a:ext cx="2011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B82F6"/>
                </a:solidFill>
              </a:defRPr>
            </a:pPr>
            <a:r>
              <a:t>🤖 AI Processing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15000" y="173736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E5E7EB"/>
                </a:solidFill>
              </a:defRPr>
            </a:pPr>
            <a:r>
              <a:t>OpenCV 4.10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15000" y="210312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E5E7EB"/>
                </a:solidFill>
              </a:defRPr>
            </a:pPr>
            <a:r>
              <a:t>NumPy • Pillow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474720"/>
            <a:ext cx="2286000" cy="1783080"/>
          </a:xfrm>
          <a:prstGeom prst="rect">
            <a:avLst/>
          </a:prstGeom>
          <a:solidFill>
            <a:srgbClr val="374151"/>
          </a:solidFill>
          <a:ln w="25400">
            <a:solidFill>
              <a:srgbClr val="933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3611879"/>
            <a:ext cx="2011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B82F6"/>
                </a:solidFill>
              </a:defRPr>
            </a:pPr>
            <a:r>
              <a:t>🗄️ Database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411480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E5E7EB"/>
                </a:solidFill>
              </a:defRPr>
            </a:pPr>
            <a:r>
              <a:t>PostgreSQL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448056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E5E7EB"/>
                </a:solidFill>
              </a:defRPr>
            </a:pPr>
            <a:r>
              <a:t>SQLite (Backup)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017520" y="3474720"/>
            <a:ext cx="2286000" cy="1783080"/>
          </a:xfrm>
          <a:prstGeom prst="rect">
            <a:avLst/>
          </a:prstGeom>
          <a:solidFill>
            <a:srgbClr val="374151"/>
          </a:solidFill>
          <a:ln w="25400">
            <a:solidFill>
              <a:srgbClr val="933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154679" y="3611879"/>
            <a:ext cx="2011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B82F6"/>
                </a:solidFill>
              </a:defRPr>
            </a:pPr>
            <a:r>
              <a:t>🔐 Security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54679" y="411480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E5E7EB"/>
                </a:solidFill>
              </a:defRPr>
            </a:pPr>
            <a:r>
              <a:t>OAuth 2.0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54679" y="448056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E5E7EB"/>
                </a:solidFill>
              </a:defRPr>
            </a:pPr>
            <a:r>
              <a:t>Bcrypt • SSL/TLS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577840" y="3474720"/>
            <a:ext cx="2286000" cy="1783080"/>
          </a:xfrm>
          <a:prstGeom prst="rect">
            <a:avLst/>
          </a:prstGeom>
          <a:solidFill>
            <a:srgbClr val="374151"/>
          </a:solidFill>
          <a:ln w="25400">
            <a:solidFill>
              <a:srgbClr val="933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715000" y="3611879"/>
            <a:ext cx="2011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B82F6"/>
                </a:solidFill>
              </a:defRPr>
            </a:pPr>
            <a:r>
              <a:t>🚀 Deployment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15000" y="411480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E5E7EB"/>
                </a:solidFill>
              </a:defRPr>
            </a:pPr>
            <a:r>
              <a:t>Docker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15000" y="448056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E5E7EB"/>
                </a:solidFill>
              </a:defRPr>
            </a:pPr>
            <a:r>
              <a:t>Render • CDN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100000">
              <a:srgbClr val="193777"/>
            </a:gs>
          </a:gsLst>
          <a:lin scaled="0" ang="189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000" b="1">
                <a:solidFill>
                  <a:srgbClr val="EF4444"/>
                </a:solidFill>
              </a:defRPr>
            </a:pPr>
            <a:r>
              <a:t>Challenges Faced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FFFFFF"/>
                </a:solidFill>
              </a:defRPr>
            </a:pPr>
            <a:r>
              <a:t>⚡ Handling diverse image qualities and resolutions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46888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FFFFFF"/>
                </a:solidFill>
              </a:defRPr>
            </a:pPr>
            <a:r>
              <a:t>🎯 Maintaining 95%+ facial feature accuracy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47472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FFFFFF"/>
                </a:solidFill>
              </a:defRPr>
            </a:pPr>
            <a:r>
              <a:t>⏱️ Optimizing processing speed to 3-4 seconds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4805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FFFFFF"/>
                </a:solidFill>
              </a:defRPr>
            </a:pPr>
            <a:r>
              <a:t>🎨 Designing intuitive UI for non-technical users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100000">
              <a:srgbClr val="1E3A8A"/>
            </a:gs>
          </a:gsLst>
          <a:lin scaled="0" ang="189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000" b="1">
                <a:solidFill>
                  <a:srgbClr val="22C55E"/>
                </a:solidFill>
              </a:defRPr>
            </a:pPr>
            <a:r>
              <a:t>Solutions Implemented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FFFFFF"/>
                </a:solidFill>
              </a:defRPr>
            </a:pPr>
            <a:r>
              <a:t>✓ Developed and trained custom deep learning models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46888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FFFFFF"/>
                </a:solidFill>
              </a:defRPr>
            </a:pPr>
            <a:r>
              <a:t>✓ Implemented efficient multi-threaded backend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47472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FFFFFF"/>
                </a:solidFill>
              </a:defRPr>
            </a:pPr>
            <a:r>
              <a:t>✓ Applied advanced image preprocessing techniques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4805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FFFFFF"/>
                </a:solidFill>
              </a:defRPr>
            </a:pPr>
            <a:r>
              <a:t>✓ Built clean, intuitive, and responsive UI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100000">
              <a:srgbClr val="1E3A8A"/>
            </a:gs>
          </a:gsLst>
          <a:lin scaled="0" ang="189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000" b="1">
                <a:solidFill>
                  <a:srgbClr val="9333EA"/>
                </a:solidFill>
              </a:defRPr>
            </a:pPr>
            <a:r>
              <a:t>Future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FFFFFF"/>
                </a:solidFill>
              </a:defRPr>
            </a:pPr>
            <a:r>
              <a:t>🎬 Real-time video stylization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46888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FFFFFF"/>
                </a:solidFill>
              </a:defRPr>
            </a:pPr>
            <a:r>
              <a:t>📱 Native mobile applications (iOS &amp; Android)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47472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FFFFFF"/>
                </a:solidFill>
              </a:defRPr>
            </a:pPr>
            <a:r>
              <a:t>🚀 Advanced batch processing for enterprises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4805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FFFFFF"/>
                </a:solidFill>
              </a:defRPr>
            </a:pPr>
            <a:r>
              <a:t>🌍 Extended AI style library (100+ models)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100000">
              <a:srgbClr val="1E3A8A"/>
            </a:gs>
          </a:gsLst>
          <a:lin scaled="0" ang="189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BBF24"/>
                </a:solidFill>
              </a:defRPr>
            </a:pPr>
            <a:r>
              <a:t>AI is democratizing creativity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56032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Toonify AI transforms complex image editing into a simple, fast, and accessible experience for creators, designers, and businesses worldwide.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9333EA"/>
            </a:gs>
            <a:gs pos="100000">
              <a:srgbClr val="3B82F6"/>
            </a:gs>
          </a:gsLst>
          <a:lin scaled="0" ang="189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600" b="1">
                <a:solidFill>
                  <a:srgbClr val="FFFFFF"/>
                </a:solidFill>
              </a:defRPr>
            </a:pPr>
            <a:r>
              <a:t>Thank You!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600">
                <a:solidFill>
                  <a:srgbClr val="FBBF24"/>
                </a:solidFill>
              </a:defRPr>
            </a:pPr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
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7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aiandra GD" panose="020E0502030308020204" pitchFamily="34" charset="0"/>
      <p:regular r:id="rId12"/>
    </p:embeddedFont>
    <p:embeddedFont>
      <p:font typeface="Merriweather" panose="00000500000000000000" pitchFamily="2" charset="0"/>
      <p:regular r:id="rId13"/>
      <p:bold r:id="rId14"/>
    </p:embeddedFont>
    <p:embeddedFont>
      <p:font typeface="Merriweather Light" panose="00000400000000000000" pitchFamily="2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85C6D-EE22-4C5E-AAA0-5FEA29D1CA24}" v="24" dt="2025-10-03T15:12:51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na kapuganti" userId="2e35ae5ed46c18cd" providerId="LiveId" clId="{A1837853-11C2-4D9A-A56E-F04266904BAD}"/>
    <pc:docChg chg="undo custSel modSld">
      <pc:chgData name="sanjana kapuganti" userId="2e35ae5ed46c18cd" providerId="LiveId" clId="{A1837853-11C2-4D9A-A56E-F04266904BAD}" dt="2025-10-03T15:13:30.605" v="302" actId="1076"/>
      <pc:docMkLst>
        <pc:docMk/>
      </pc:docMkLst>
      <pc:sldChg chg="modSp mod">
        <pc:chgData name="sanjana kapuganti" userId="2e35ae5ed46c18cd" providerId="LiveId" clId="{A1837853-11C2-4D9A-A56E-F04266904BAD}" dt="2025-10-03T15:01:13.395" v="5" actId="2711"/>
        <pc:sldMkLst>
          <pc:docMk/>
          <pc:sldMk cId="0" sldId="256"/>
        </pc:sldMkLst>
        <pc:spChg chg="mod">
          <ac:chgData name="sanjana kapuganti" userId="2e35ae5ed46c18cd" providerId="LiveId" clId="{A1837853-11C2-4D9A-A56E-F04266904BAD}" dt="2025-10-03T15:01:06.573" v="4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1:13.395" v="5" actId="2711"/>
          <ac:spMkLst>
            <pc:docMk/>
            <pc:sldMk cId="0" sldId="256"/>
            <ac:spMk id="6" creationId="{92DD901E-5A98-4AAF-A8E3-290C12966D1A}"/>
          </ac:spMkLst>
        </pc:spChg>
      </pc:sldChg>
      <pc:sldChg chg="modSp mod">
        <pc:chgData name="sanjana kapuganti" userId="2e35ae5ed46c18cd" providerId="LiveId" clId="{A1837853-11C2-4D9A-A56E-F04266904BAD}" dt="2025-10-03T13:49:59.495" v="0" actId="12"/>
        <pc:sldMkLst>
          <pc:docMk/>
          <pc:sldMk cId="0" sldId="257"/>
        </pc:sldMkLst>
        <pc:spChg chg="mod">
          <ac:chgData name="sanjana kapuganti" userId="2e35ae5ed46c18cd" providerId="LiveId" clId="{A1837853-11C2-4D9A-A56E-F04266904BAD}" dt="2025-10-03T13:49:59.495" v="0" actId="12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sanjana kapuganti" userId="2e35ae5ed46c18cd" providerId="LiveId" clId="{A1837853-11C2-4D9A-A56E-F04266904BAD}" dt="2025-10-03T15:03:59.850" v="41" actId="1076"/>
        <pc:sldMkLst>
          <pc:docMk/>
          <pc:sldMk cId="0" sldId="259"/>
        </pc:sldMkLst>
        <pc:spChg chg="mod">
          <ac:chgData name="sanjana kapuganti" userId="2e35ae5ed46c18cd" providerId="LiveId" clId="{A1837853-11C2-4D9A-A56E-F04266904BAD}" dt="2025-10-03T15:02:49.621" v="8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3:07.654" v="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3:59.850" v="41" actId="1076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sanjana kapuganti" userId="2e35ae5ed46c18cd" providerId="LiveId" clId="{A1837853-11C2-4D9A-A56E-F04266904BAD}" dt="2025-10-03T15:10:38.145" v="246" actId="20577"/>
        <pc:sldMkLst>
          <pc:docMk/>
          <pc:sldMk cId="0" sldId="260"/>
        </pc:sldMkLst>
        <pc:spChg chg="mod">
          <ac:chgData name="sanjana kapuganti" userId="2e35ae5ed46c18cd" providerId="LiveId" clId="{A1837853-11C2-4D9A-A56E-F04266904BAD}" dt="2025-10-03T15:04:18.592" v="64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0:38.145" v="246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sanjana kapuganti" userId="2e35ae5ed46c18cd" providerId="LiveId" clId="{A1837853-11C2-4D9A-A56E-F04266904BAD}" dt="2025-10-03T15:06:59.044" v="127" actId="20577"/>
        <pc:sldMkLst>
          <pc:docMk/>
          <pc:sldMk cId="0" sldId="261"/>
        </pc:sldMkLst>
        <pc:spChg chg="mod">
          <ac:chgData name="sanjana kapuganti" userId="2e35ae5ed46c18cd" providerId="LiveId" clId="{A1837853-11C2-4D9A-A56E-F04266904BAD}" dt="2025-10-03T15:06:27.264" v="8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6:59.044" v="127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6:45.775" v="117" actId="20577"/>
          <ac:spMkLst>
            <pc:docMk/>
            <pc:sldMk cId="0" sldId="261"/>
            <ac:spMk id="15" creationId="{00000000-0000-0000-0000-000000000000}"/>
          </ac:spMkLst>
        </pc:spChg>
      </pc:sldChg>
      <pc:sldChg chg="delSp modSp mod">
        <pc:chgData name="sanjana kapuganti" userId="2e35ae5ed46c18cd" providerId="LiveId" clId="{A1837853-11C2-4D9A-A56E-F04266904BAD}" dt="2025-10-03T15:12:51.797" v="257"/>
        <pc:sldMkLst>
          <pc:docMk/>
          <pc:sldMk cId="0" sldId="262"/>
        </pc:sldMkLst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2:33.903" v="254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2:28.771" v="25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7:51.371" v="132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2:51.797" v="257"/>
          <ac:spMkLst>
            <pc:docMk/>
            <pc:sldMk cId="0" sldId="262"/>
            <ac:spMk id="19" creationId="{00000000-0000-0000-0000-000000000000}"/>
          </ac:spMkLst>
        </pc:spChg>
        <pc:spChg chg="del mod">
          <ac:chgData name="sanjana kapuganti" userId="2e35ae5ed46c18cd" providerId="LiveId" clId="{A1837853-11C2-4D9A-A56E-F04266904BAD}" dt="2025-10-03T15:07:28.469" v="129" actId="478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sanjana kapuganti" userId="2e35ae5ed46c18cd" providerId="LiveId" clId="{A1837853-11C2-4D9A-A56E-F04266904BAD}" dt="2025-10-03T15:13:30.605" v="302" actId="1076"/>
        <pc:sldMkLst>
          <pc:docMk/>
          <pc:sldMk cId="0" sldId="263"/>
        </pc:sldMkLst>
        <pc:spChg chg="mod">
          <ac:chgData name="sanjana kapuganti" userId="2e35ae5ed46c18cd" providerId="LiveId" clId="{A1837853-11C2-4D9A-A56E-F04266904BAD}" dt="2025-10-03T15:10:03.087" v="221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3:30.605" v="30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13:25.693" v="301" actId="20577"/>
          <ac:spMkLst>
            <pc:docMk/>
            <pc:sldMk cId="0" sldId="263"/>
            <ac:spMk id="12" creationId="{00000000-0000-0000-0000-000000000000}"/>
          </ac:spMkLst>
        </pc:spChg>
      </pc:sldChg>
      <pc:sldChg chg="delSp modSp mod">
        <pc:chgData name="sanjana kapuganti" userId="2e35ae5ed46c18cd" providerId="LiveId" clId="{A1837853-11C2-4D9A-A56E-F04266904BAD}" dt="2025-10-03T15:08:54.286" v="139" actId="478"/>
        <pc:sldMkLst>
          <pc:docMk/>
          <pc:sldMk cId="0" sldId="264"/>
        </pc:sldMkLst>
        <pc:spChg chg="del mod">
          <ac:chgData name="sanjana kapuganti" userId="2e35ae5ed46c18cd" providerId="LiveId" clId="{A1837853-11C2-4D9A-A56E-F04266904BAD}" dt="2025-10-03T15:08:54.286" v="139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njana kapuganti" userId="2e35ae5ed46c18cd" providerId="LiveId" clId="{A1837853-11C2-4D9A-A56E-F04266904BAD}" dt="2025-10-03T15:08:34.720" v="137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sanjana kapuganti" userId="2e35ae5ed46c18cd" providerId="LiveId" clId="{A1837853-11C2-4D9A-A56E-F04266904BAD}" dt="2025-10-03T15:06:11.548" v="76" actId="1076"/>
        <pc:sldMkLst>
          <pc:docMk/>
          <pc:sldMk cId="2394150658" sldId="267"/>
        </pc:sldMkLst>
        <pc:picChg chg="mod modCrop">
          <ac:chgData name="sanjana kapuganti" userId="2e35ae5ed46c18cd" providerId="LiveId" clId="{A1837853-11C2-4D9A-A56E-F04266904BAD}" dt="2025-10-03T15:06:11.548" v="76" actId="1076"/>
          <ac:picMkLst>
            <pc:docMk/>
            <pc:sldMk cId="2394150658" sldId="267"/>
            <ac:picMk id="3" creationId="{A0447385-5A39-E5AB-1C13-D7BB33C5A2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45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7.png"/><Relationship Id="rId7" Type="http://schemas.openxmlformats.org/officeDocument/2006/relationships/hyperlink" Target="https://ro.wikipedia.org/wiki/Microsoft_Exce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hyperlink" Target="https://wsparrow.blogspot.com/2018/02/how-to-create-quiz-using-python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381575"/>
            <a:ext cx="7416403" cy="2024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Global Income Inequality: A Visualization of Worldwide Income Metrics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18832" y="4224474"/>
            <a:ext cx="5247069" cy="171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/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Mentor Name:​</a:t>
            </a:r>
          </a:p>
          <a:p>
            <a:pPr fontAlgn="base"/>
            <a:endParaRPr lang="en-US" dirty="0">
              <a:solidFill>
                <a:srgbClr val="E2E6E9"/>
              </a:solidFill>
              <a:latin typeface="Merriweather" pitchFamily="34" charset="0"/>
            </a:endParaRPr>
          </a:p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           </a:t>
            </a:r>
            <a:r>
              <a:rPr lang="en-US" b="1" dirty="0">
                <a:solidFill>
                  <a:srgbClr val="E2E6E9"/>
                </a:solidFill>
                <a:latin typeface="Maiandra GD" panose="020E0502030308020204" pitchFamily="34" charset="0"/>
              </a:rPr>
              <a:t>Mr. Bhargava Sai Reddy  Vanga</a:t>
            </a:r>
            <a:r>
              <a:rPr lang="en-US" dirty="0">
                <a:solidFill>
                  <a:srgbClr val="E2E6E9"/>
                </a:solidFill>
                <a:latin typeface="Maiandra GD" panose="020E0502030308020204" pitchFamily="34" charset="0"/>
              </a:rPr>
              <a:t>​</a:t>
            </a:r>
          </a:p>
          <a:p>
            <a:pPr fontAlgn="base"/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​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D901E-5A98-4AAF-A8E3-290C12966D1A}"/>
              </a:ext>
            </a:extLst>
          </p:cNvPr>
          <p:cNvSpPr/>
          <p:nvPr/>
        </p:nvSpPr>
        <p:spPr>
          <a:xfrm>
            <a:off x="5892998" y="5678453"/>
            <a:ext cx="3251002" cy="70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/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Coordinator Nam​e:​</a:t>
            </a:r>
          </a:p>
          <a:p>
            <a:pPr fontAlgn="base"/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          </a:t>
            </a:r>
          </a:p>
          <a:p>
            <a:pPr fontAlgn="base"/>
            <a:r>
              <a:rPr lang="en-US" dirty="0">
                <a:solidFill>
                  <a:srgbClr val="E2E6E9"/>
                </a:solidFill>
                <a:latin typeface="Merriweather" pitchFamily="34" charset="0"/>
              </a:rPr>
              <a:t>                    </a:t>
            </a:r>
            <a:r>
              <a:rPr lang="en-US" b="1" dirty="0">
                <a:solidFill>
                  <a:srgbClr val="E2E6E9"/>
                </a:solidFill>
                <a:latin typeface="Maiandra GD" panose="020E0502030308020204" pitchFamily="34" charset="0"/>
              </a:rPr>
              <a:t>Ms. Pranathi</a:t>
            </a:r>
            <a:r>
              <a:rPr lang="en-US" b="1" dirty="0">
                <a:solidFill>
                  <a:srgbClr val="E2E6E9"/>
                </a:solidFill>
                <a:latin typeface="Merriweather" pitchFamily="34" charset="0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54919"/>
            <a:ext cx="129028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</a:rPr>
              <a:t>INTRODUCTION​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036451"/>
            <a:ext cx="539829" cy="5398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798" y="3897393"/>
            <a:ext cx="3776781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explores income inequality and wealth distribution across countries over time.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3036451"/>
            <a:ext cx="539829" cy="5398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2599" y="3850341"/>
            <a:ext cx="4120991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</a:rPr>
              <a:t>Captures key indicators: population, average income, Gini Index, top 10% and bottom 10%income shares.​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610" y="3036451"/>
            <a:ext cx="539829" cy="5398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5610" y="3850341"/>
            <a:ext cx="4120991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</a:rPr>
              <a:t>Nations are grouped into developed, developing, and low-income categories for comparison.</a:t>
            </a:r>
          </a:p>
        </p:txBody>
      </p:sp>
      <p:sp>
        <p:nvSpPr>
          <p:cNvPr id="12" name="Text 7"/>
          <p:cNvSpPr/>
          <p:nvPr/>
        </p:nvSpPr>
        <p:spPr>
          <a:xfrm>
            <a:off x="863798" y="5987368"/>
            <a:ext cx="12902803" cy="43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</a:rPr>
              <a:t>Analysis reveals wealth concentration, income shifts over time, and global equity implications.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DA3E06-1201-76D7-B321-4B593F5D2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2292" y="7702449"/>
            <a:ext cx="1848108" cy="438211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00D7B8-3664-4F68-98CF-DCD24E59E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590" y="206896"/>
            <a:ext cx="5030509" cy="209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49996"/>
          <a:stretch/>
        </p:blipFill>
        <p:spPr>
          <a:xfrm>
            <a:off x="555188" y="2741889"/>
            <a:ext cx="5879902" cy="44725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5170" y="693776"/>
            <a:ext cx="7555230" cy="124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Our Data-Driven Solution Pathway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2233016"/>
            <a:ext cx="993100" cy="17795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6867" y="2431612"/>
            <a:ext cx="339030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Data Visualisation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8266867" y="2860951"/>
            <a:ext cx="6363533" cy="95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Leveraging advanced visualization to turn complex economic data into clear insights on income disparities across regions and demographics..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0" y="4012524"/>
            <a:ext cx="993100" cy="17795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6867" y="4211120"/>
            <a:ext cx="377059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Comprehensive Metric Analysis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8266867" y="4640460"/>
            <a:ext cx="6363533" cy="95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Comparing key metrics—Gini coefficient, GDP per capita, poverty rate, and income percentiles—for a holistic view of global inequality..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170" y="5792032"/>
            <a:ext cx="993100" cy="17795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6867" y="5990628"/>
            <a:ext cx="272534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Actionable Intelligence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8281832" y="6504789"/>
            <a:ext cx="6363533" cy="95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Delivering evidence-based recommendations and insights that enable  stakeholders to make informed decisions for addressing inequality challenges.</a:t>
            </a:r>
            <a:endParaRPr lang="en-US" sz="15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A799DDE6-643F-4A90-9296-17132A5E479A}"/>
              </a:ext>
            </a:extLst>
          </p:cNvPr>
          <p:cNvSpPr/>
          <p:nvPr/>
        </p:nvSpPr>
        <p:spPr>
          <a:xfrm>
            <a:off x="460891" y="659426"/>
            <a:ext cx="5024674" cy="124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</a:rPr>
              <a:t>Problem Statement​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4C03D10-0C2F-40BC-BBE3-F684DC9ADCA9}"/>
              </a:ext>
            </a:extLst>
          </p:cNvPr>
          <p:cNvSpPr/>
          <p:nvPr/>
        </p:nvSpPr>
        <p:spPr>
          <a:xfrm>
            <a:off x="460891" y="1424284"/>
            <a:ext cx="5674995" cy="95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</a:rPr>
              <a:t>How</a:t>
            </a:r>
            <a:r>
              <a:rPr lang="en-US" b="1" dirty="0"/>
              <a:t> 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</a:rPr>
              <a:t>might we personalize inequality analysis to make it more accessible and engaging for diverse types of users?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633BD-FF60-4CF1-A700-6095EE80F351}"/>
              </a:ext>
            </a:extLst>
          </p:cNvPr>
          <p:cNvSpPr txBox="1"/>
          <p:nvPr/>
        </p:nvSpPr>
        <p:spPr>
          <a:xfrm>
            <a:off x="12550140" y="7783830"/>
            <a:ext cx="1943100" cy="41564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07839"/>
            <a:ext cx="11628477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Stack: Building Robust Analytics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63798" y="1914525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250996"/>
            <a:ext cx="6343412" cy="3048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3798" y="2419826"/>
            <a:ext cx="397978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 &amp; Preprocessing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3798" y="2886670"/>
            <a:ext cx="634341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Tools: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Excel, Python (Pandas, NumPy)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3798" y="3361730"/>
            <a:ext cx="6343412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Standardising and cleaning raw economic data from sources, ensuring consistency and reliability across datasets.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23071" y="1914525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3071" y="2250996"/>
            <a:ext cx="6343531" cy="3048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23071" y="2419826"/>
            <a:ext cx="273653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Transformation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23071" y="2886670"/>
            <a:ext cx="63435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Tools: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Power Query, Python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23071" y="3361730"/>
            <a:ext cx="6343531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Restructuring data into formats optimised for analysis, creating calculated fields and metrics for comprehensive inequality assessment.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3798" y="4776073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3798" y="5112544"/>
            <a:ext cx="6343412" cy="3048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3798" y="5281374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Visualisation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63798" y="5748218"/>
            <a:ext cx="634341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Tools: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Power BI, Tableau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3798" y="6223278"/>
            <a:ext cx="6343412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Developing interactive dashboards and dynamic visualisations that make complex economic patterns accessible to diverse audiences.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23071" y="4776073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23071" y="5112544"/>
            <a:ext cx="6343531" cy="3048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23071" y="5281374"/>
            <a:ext cx="306240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Dashboard Deployment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23071" y="5748218"/>
            <a:ext cx="63435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Tools:</a:t>
            </a: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Power BI Service, Tableau Online, Streamlit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23071" y="6223278"/>
            <a:ext cx="6343531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Ensuring seamless access and sharing capabilities through cloud-based platforms for maximum stakeholder engagement and usability.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40BA46-7CC3-E3A8-F228-EB04734E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292" y="7791389"/>
            <a:ext cx="1848108" cy="438211"/>
          </a:xfrm>
          <a:prstGeom prst="rect">
            <a:avLst/>
          </a:prstGeom>
        </p:spPr>
      </p:pic>
      <p:pic>
        <p:nvPicPr>
          <p:cNvPr id="2050" name="Picture 2" descr="A red paper boat with triangle shapes&#10;&#10;AI-generated content may be incorrect.">
            <a:extLst>
              <a:ext uri="{FF2B5EF4-FFF2-40B4-BE49-F238E27FC236}">
                <a16:creationId xmlns:a16="http://schemas.microsoft.com/office/drawing/2014/main" id="{ABF9927A-8ED2-4D8A-853C-73B319B51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196" y="5324534"/>
            <a:ext cx="8191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A yellow rectangular objects with black background&#10;&#10;AI-generated content may be incorrect.">
            <a:extLst>
              <a:ext uri="{FF2B5EF4-FFF2-40B4-BE49-F238E27FC236}">
                <a16:creationId xmlns:a16="http://schemas.microsoft.com/office/drawing/2014/main" id="{A05C2932-73AD-4165-B2BC-75E45DDAC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606" y="5328505"/>
            <a:ext cx="794385" cy="79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C33E0EE-A5D1-47F3-A529-B086AF4A87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291473" y="2377579"/>
            <a:ext cx="773125" cy="7299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E366D6C-1330-4551-BAD5-0F988E301A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2371403" y="2538487"/>
            <a:ext cx="1334943" cy="637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447385-5A39-E5AB-1C13-D7BB33C5A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41"/>
          <a:stretch>
            <a:fillRect/>
          </a:stretch>
        </p:blipFill>
        <p:spPr>
          <a:xfrm>
            <a:off x="-7798" y="105936"/>
            <a:ext cx="14645996" cy="801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5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427" y="514469"/>
            <a:ext cx="8804315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7" y="1590318"/>
            <a:ext cx="6338530" cy="63385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51063" y="1590318"/>
            <a:ext cx="6338530" cy="1797606"/>
          </a:xfrm>
          <a:prstGeom prst="roundRect">
            <a:avLst>
              <a:gd name="adj" fmla="val 610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528203" y="1590318"/>
            <a:ext cx="91440" cy="1797606"/>
          </a:xfrm>
          <a:prstGeom prst="roundRect">
            <a:avLst>
              <a:gd name="adj" fmla="val 8594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29550" y="1800225"/>
            <a:ext cx="2949535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Quality &amp; Availability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29550" y="2279690"/>
            <a:ext cx="5850136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Addressing inconsistencies in data collection methods across  countries and ensuring reliable sources for comprehensive global coverage.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551063" y="3574971"/>
            <a:ext cx="6338530" cy="1797606"/>
          </a:xfrm>
          <a:prstGeom prst="roundRect">
            <a:avLst>
              <a:gd name="adj" fmla="val 610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528203" y="3574971"/>
            <a:ext cx="91440" cy="1797606"/>
          </a:xfrm>
          <a:prstGeom prst="roundRect">
            <a:avLst>
              <a:gd name="adj" fmla="val 8594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829550" y="3784878"/>
            <a:ext cx="302585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Data Management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29550" y="4264342"/>
            <a:ext cx="5850136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Developing robust strategies for handling incomplete datasets whilst maintaining  integrity and avoiding bias in inequality measurements.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551063" y="5559623"/>
            <a:ext cx="6338530" cy="1797606"/>
          </a:xfrm>
          <a:prstGeom prst="roundRect">
            <a:avLst>
              <a:gd name="adj" fmla="val 610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528203" y="5559623"/>
            <a:ext cx="91440" cy="1797606"/>
          </a:xfrm>
          <a:prstGeom prst="roundRect">
            <a:avLst>
              <a:gd name="adj" fmla="val 8594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829550" y="5769531"/>
            <a:ext cx="321171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Complex Data Simplification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29550" y="6248995"/>
            <a:ext cx="5850136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Translating economic indicators into intuitive visual formats that communicate effectively with non-technical stakeholders 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3919E6-6DAB-69C3-A5C1-90F236917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292" y="7791389"/>
            <a:ext cx="1848108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72" y="940475"/>
            <a:ext cx="7684056" cy="11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Enhancements: Expanding Our Vision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35236" y="2354818"/>
            <a:ext cx="22860" cy="3853101"/>
          </a:xfrm>
          <a:prstGeom prst="roundRect">
            <a:avLst>
              <a:gd name="adj" fmla="val 33533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Shape 2"/>
          <p:cNvSpPr/>
          <p:nvPr/>
        </p:nvSpPr>
        <p:spPr>
          <a:xfrm>
            <a:off x="1117699" y="2548652"/>
            <a:ext cx="547449" cy="22860"/>
          </a:xfrm>
          <a:prstGeom prst="roundRect">
            <a:avLst>
              <a:gd name="adj" fmla="val 33533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" name="Shape 3"/>
          <p:cNvSpPr/>
          <p:nvPr/>
        </p:nvSpPr>
        <p:spPr>
          <a:xfrm>
            <a:off x="729913" y="2354818"/>
            <a:ext cx="410647" cy="41064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" name="Text 4"/>
          <p:cNvSpPr/>
          <p:nvPr/>
        </p:nvSpPr>
        <p:spPr>
          <a:xfrm>
            <a:off x="798314" y="2388989"/>
            <a:ext cx="273725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847850" y="2417445"/>
            <a:ext cx="299204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Data Integration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58737" y="2903220"/>
            <a:ext cx="6566178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Integrating live global data for real-time inequality insights..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17699" y="3954661"/>
            <a:ext cx="547449" cy="22860"/>
          </a:xfrm>
          <a:prstGeom prst="roundRect">
            <a:avLst>
              <a:gd name="adj" fmla="val 33533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Shape 8"/>
          <p:cNvSpPr/>
          <p:nvPr/>
        </p:nvSpPr>
        <p:spPr>
          <a:xfrm>
            <a:off x="729913" y="3760827"/>
            <a:ext cx="410647" cy="41064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2" name="Text 9"/>
          <p:cNvSpPr/>
          <p:nvPr/>
        </p:nvSpPr>
        <p:spPr>
          <a:xfrm>
            <a:off x="798314" y="3794998"/>
            <a:ext cx="273725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847850" y="3823454"/>
            <a:ext cx="351901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AI-Powered Predictive Analytics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847850" y="4218027"/>
            <a:ext cx="6566178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Using machine learning to forecast trends and assess policy impacts..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17699" y="5360670"/>
            <a:ext cx="547449" cy="22860"/>
          </a:xfrm>
          <a:prstGeom prst="roundRect">
            <a:avLst>
              <a:gd name="adj" fmla="val 33533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6" name="Shape 13"/>
          <p:cNvSpPr/>
          <p:nvPr/>
        </p:nvSpPr>
        <p:spPr>
          <a:xfrm>
            <a:off x="729004" y="5155346"/>
            <a:ext cx="410647" cy="410647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7" name="Text 14"/>
          <p:cNvSpPr/>
          <p:nvPr/>
        </p:nvSpPr>
        <p:spPr>
          <a:xfrm>
            <a:off x="798314" y="5201007"/>
            <a:ext cx="273725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847850" y="5229463"/>
            <a:ext cx="279987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Mobile-First Accessibility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847850" y="5624036"/>
            <a:ext cx="6566178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Building responsive, mobile-ready dashboards for wider access and engagement..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9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485436"/>
            <a:ext cx="10846237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</a:rPr>
              <a:t>Conclusion</a:t>
            </a:r>
          </a:p>
        </p:txBody>
      </p:sp>
      <p:sp>
        <p:nvSpPr>
          <p:cNvPr id="4" name="Shape 1"/>
          <p:cNvSpPr/>
          <p:nvPr/>
        </p:nvSpPr>
        <p:spPr>
          <a:xfrm>
            <a:off x="863798" y="4484132"/>
            <a:ext cx="485894" cy="48589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65553" y="4558308"/>
            <a:ext cx="318254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Critical Global Challenge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565553" y="5197912"/>
            <a:ext cx="3419237" cy="2073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Income inequality represents  most pressing economic and social challenges of our time, requiring immediate attention and coordinated global action.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54704" y="4484132"/>
            <a:ext cx="485894" cy="48589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956459" y="4558308"/>
            <a:ext cx="2887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Solutions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956459" y="5171562"/>
            <a:ext cx="3419237" cy="24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visualisation techniques provide  tools for understanding complex patterns and informing evidence-based policy decisions.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5610" y="4484132"/>
            <a:ext cx="485894" cy="48589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347365" y="4558308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Path to Equity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347365" y="5025152"/>
            <a:ext cx="3419237" cy="24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Through innovative analytics , we can empower stakeholders to make decisions that promote more equitable economic growth.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88D2B1-6454-8521-CE6B-28BDC2A66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292" y="7791389"/>
            <a:ext cx="1848108" cy="438211"/>
          </a:xfrm>
          <a:prstGeom prst="rect">
            <a:avLst/>
          </a:prstGeom>
        </p:spPr>
      </p:pic>
      <p:pic>
        <p:nvPicPr>
          <p:cNvPr id="3074" name="Picture 2" descr="A diagram of economic inequality&#10;&#10;AI-generated content may be incorrect.">
            <a:extLst>
              <a:ext uri="{FF2B5EF4-FFF2-40B4-BE49-F238E27FC236}">
                <a16:creationId xmlns:a16="http://schemas.microsoft.com/office/drawing/2014/main" id="{37D7B138-978C-4262-9DFA-44D2C6FD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108" y="0"/>
            <a:ext cx="2699623" cy="269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61160"/>
            <a:ext cx="7416403" cy="134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00"/>
              </a:lnSpc>
              <a:buNone/>
            </a:pPr>
            <a:r>
              <a:rPr lang="en-US" sz="8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 You</a:t>
            </a:r>
            <a:endParaRPr lang="en-US" sz="8500" dirty="0"/>
          </a:p>
        </p:txBody>
      </p:sp>
      <p:sp>
        <p:nvSpPr>
          <p:cNvPr id="5" name="Shape 2"/>
          <p:cNvSpPr/>
          <p:nvPr/>
        </p:nvSpPr>
        <p:spPr>
          <a:xfrm>
            <a:off x="6350198" y="4614267"/>
            <a:ext cx="7416403" cy="1954054"/>
          </a:xfrm>
          <a:prstGeom prst="roundRect">
            <a:avLst>
              <a:gd name="adj" fmla="val 4642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059" y="4938951"/>
            <a:ext cx="269915" cy="215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51834" y="4884063"/>
            <a:ext cx="6498907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Questions &amp; Discussion  : </a:t>
            </a: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welcome your insights and look forward to collaborating on solutions that address global income inequality</a:t>
            </a: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5ED2BA-3A6D-5955-AEFB-799904EA7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2292" y="7791389"/>
            <a:ext cx="1848108" cy="438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515</Words>
  <Application>Microsoft Office PowerPoint</Application>
  <PresentationFormat>Custom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Maiandra GD</vt:lpstr>
      <vt:lpstr>Merriweather Light</vt:lpstr>
      <vt:lpstr>Arial</vt:lpstr>
      <vt:lpstr>Merriweather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pragadeesh</dc:creator>
  <cp:lastModifiedBy>sanjana kapuganti</cp:lastModifiedBy>
  <cp:revision>9</cp:revision>
  <dcterms:created xsi:type="dcterms:W3CDTF">2025-09-29T15:06:53Z</dcterms:created>
  <dcterms:modified xsi:type="dcterms:W3CDTF">2025-10-03T15:13:32Z</dcterms:modified>
</cp:coreProperties>
</file>